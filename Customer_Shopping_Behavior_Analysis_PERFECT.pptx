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620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Fade 0.6s
Entrance: title first, then subtitle and KPI cards.
Use Morph-like visual continuity into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Morph from title/hero into overview cards.
Entrance: dataset metrics → project overview → feature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Push/Reveal or Morph.
Entrance: each numbered stage appears left-to-right, then the integration badge.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Morph.
Entrance: question cards reveal in two-column reading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Morph.
Entrance: chart frame → bars → 839 KPI → table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Push.
Entrance: ratings bars left-to-right; shipping comparison follows with emphasis on 58.46 vs 60.48.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Morph.
Entrance: segmentation ring → segment labels → subscription figures → repeat-buyer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Fade into three-panel insight layout.
Entrance: discount bars → category list → age-group bars.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Morph.
Entrance: dashboard visual first; supporting explanation cards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Fade to close.
Entrance: recommendation cards appear in reading order; final statement appears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/>
          </a:solidFill>
          <a:ln w="12700">
            <a:solidFill>
              <a:srgbClr val="0507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6473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F7C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sba_ai_visuals/hero.png"/>
          <p:cNvPicPr>
            <a:picLocks noChangeAspect="1"/>
          </p:cNvPicPr>
          <p:nvPr/>
        </p:nvPicPr>
        <p:blipFill>
          <a:blip r:embed="rId3">
            <a:alphaModFix amt="98000"/>
          </a:blip>
          <a:stretch>
            <a:fillRect/>
          </a:stretch>
        </p:blipFill>
        <p:spPr>
          <a:xfrm>
            <a:off x="7086600" y="0"/>
            <a:ext cx="51023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>
              <a:alpha val="88000"/>
            </a:srgbClr>
          </a:solidFill>
          <a:ln w="12700">
            <a:solidFill>
              <a:srgbClr val="05070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" y="502920"/>
            <a:ext cx="1481328" cy="292608"/>
          </a:xfrm>
          <a:prstGeom prst="roundRect">
            <a:avLst>
              <a:gd name="adj" fmla="val 43750"/>
            </a:avLst>
          </a:prstGeom>
          <a:solidFill>
            <a:srgbClr val="3AA7FF">
              <a:alpha val="22000"/>
            </a:srgbClr>
          </a:solidFill>
          <a:ln w="10160">
            <a:solidFill>
              <a:srgbClr val="3AA7FF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539496"/>
            <a:ext cx="12984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ANALYTICS PROJECT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58368" y="1325880"/>
            <a:ext cx="658368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Shopping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 Analysis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85800" y="2907792"/>
            <a:ext cx="6126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transactional data into clearer business decisions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3886200"/>
            <a:ext cx="6355080" cy="1325880"/>
          </a:xfrm>
          <a:prstGeom prst="roundRect">
            <a:avLst>
              <a:gd name="adj" fmla="val 5517"/>
            </a:avLst>
          </a:prstGeom>
          <a:solidFill>
            <a:srgbClr val="101B28">
              <a:alpha val="8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932688" y="4114800"/>
            <a:ext cx="13258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3,900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32688" y="4517136"/>
            <a:ext cx="1097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31720" y="4142232"/>
            <a:ext cx="0" cy="658368"/>
          </a:xfrm>
          <a:prstGeom prst="line">
            <a:avLst/>
          </a:prstGeom>
          <a:noFill/>
          <a:ln w="12700">
            <a:solidFill>
              <a:srgbClr val="2D4058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2606040" y="4114800"/>
            <a:ext cx="8229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606040" y="4517136"/>
            <a:ext cx="1097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794760" y="4142232"/>
            <a:ext cx="0" cy="658368"/>
          </a:xfrm>
          <a:prstGeom prst="line">
            <a:avLst/>
          </a:prstGeom>
          <a:noFill/>
          <a:ln w="12700">
            <a:solidFill>
              <a:srgbClr val="2D4058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/>
          <p:nvPr/>
        </p:nvSpPr>
        <p:spPr>
          <a:xfrm>
            <a:off x="4041648" y="411480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041648" y="4507992"/>
            <a:ext cx="2468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 •  Power BI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13232" y="5961888"/>
            <a:ext cx="3108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 •  Understand  •  Act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8368" y="6419088"/>
            <a:ext cx="5943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PDF, p.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 &amp; dataset snapshot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1612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project combines transactional data, customer attributes, and shopping behavior to uncover actionable patterns.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1847088" cy="1024128"/>
          </a:xfrm>
          <a:prstGeom prst="roundRect">
            <a:avLst>
              <a:gd name="adj" fmla="val 7143"/>
            </a:avLst>
          </a:prstGeom>
          <a:solidFill>
            <a:srgbClr val="0D1520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02536" y="1554480"/>
            <a:ext cx="731520" cy="731520"/>
          </a:xfrm>
          <a:prstGeom prst="ellipse">
            <a:avLst/>
          </a:prstGeom>
          <a:solidFill>
            <a:srgbClr val="3AA7FF">
              <a:alpha val="18000"/>
            </a:srgbClr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9144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3,900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15179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Transactional records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15768" y="1737360"/>
            <a:ext cx="1847088" cy="1024128"/>
          </a:xfrm>
          <a:prstGeom prst="roundRect">
            <a:avLst>
              <a:gd name="adj" fmla="val 7143"/>
            </a:avLst>
          </a:prstGeom>
          <a:solidFill>
            <a:srgbClr val="0D1520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59936" y="1554480"/>
            <a:ext cx="731520" cy="731520"/>
          </a:xfrm>
          <a:prstGeom prst="ellipse">
            <a:avLst/>
          </a:prstGeom>
          <a:solidFill>
            <a:srgbClr val="42E7D3">
              <a:alpha val="18000"/>
            </a:srgbClr>
          </a:solidFill>
          <a:ln w="12700">
            <a:solidFill>
              <a:srgbClr val="42E7D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920240"/>
            <a:ext cx="9144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880360" y="2258568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80360" y="2487168"/>
            <a:ext cx="15179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+ purchase + behavior fields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773168" y="1737360"/>
            <a:ext cx="1847088" cy="1024128"/>
          </a:xfrm>
          <a:prstGeom prst="roundRect">
            <a:avLst>
              <a:gd name="adj" fmla="val 7143"/>
            </a:avLst>
          </a:prstGeom>
          <a:solidFill>
            <a:srgbClr val="0D1520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1554480"/>
            <a:ext cx="731520" cy="731520"/>
          </a:xfrm>
          <a:prstGeom prst="ellipse">
            <a:avLst/>
          </a:prstGeom>
          <a:solidFill>
            <a:srgbClr val="9B75FF">
              <a:alpha val="18000"/>
            </a:srgbClr>
          </a:solidFill>
          <a:ln w="12700">
            <a:solidFill>
              <a:srgbClr val="9B75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920240"/>
            <a:ext cx="9144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937760" y="2258568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487168"/>
            <a:ext cx="15179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Rating column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58368" y="2971800"/>
            <a:ext cx="5074920" cy="2606040"/>
          </a:xfrm>
          <a:prstGeom prst="roundRect">
            <a:avLst>
              <a:gd name="adj" fmla="val 2807"/>
            </a:avLst>
          </a:prstGeom>
          <a:solidFill>
            <a:srgbClr val="101B28">
              <a:alpha val="93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218688"/>
            <a:ext cx="21945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" y="3566160"/>
            <a:ext cx="44348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customer shopping behavior across product categories to uncover spending patterns, customer segments, product preferences, and subscription behavior.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6112" y="4892040"/>
            <a:ext cx="1417320" cy="292608"/>
          </a:xfrm>
          <a:prstGeom prst="roundRect">
            <a:avLst>
              <a:gd name="adj" fmla="val 43750"/>
            </a:avLst>
          </a:prstGeom>
          <a:solidFill>
            <a:srgbClr val="3AA7FF">
              <a:alpha val="22000"/>
            </a:srgbClr>
          </a:solidFill>
          <a:ln w="10160">
            <a:solidFill>
              <a:srgbClr val="3AA7FF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4928616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SPENDING PATTERNS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468880" y="4892040"/>
            <a:ext cx="1536192" cy="292608"/>
          </a:xfrm>
          <a:prstGeom prst="roundRect">
            <a:avLst>
              <a:gd name="adj" fmla="val 43750"/>
            </a:avLst>
          </a:prstGeom>
          <a:solidFill>
            <a:srgbClr val="42E7D3">
              <a:alpha val="22000"/>
            </a:srgbClr>
          </a:solidFill>
          <a:ln w="10160">
            <a:solidFill>
              <a:srgbClr val="42E7D3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4928616"/>
            <a:ext cx="13533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151376" y="4892040"/>
            <a:ext cx="1325880" cy="292608"/>
          </a:xfrm>
          <a:prstGeom prst="roundRect">
            <a:avLst>
              <a:gd name="adj" fmla="val 43750"/>
            </a:avLst>
          </a:prstGeom>
          <a:solidFill>
            <a:srgbClr val="9B75FF">
              <a:alpha val="22000"/>
            </a:srgbClr>
          </a:solidFill>
          <a:ln w="10160">
            <a:solidFill>
              <a:srgbClr val="9B75FF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42816" y="4928616"/>
            <a:ext cx="1143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PREFERENCES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989320" y="2971800"/>
            <a:ext cx="5532120" cy="2606040"/>
          </a:xfrm>
          <a:prstGeom prst="roundRect">
            <a:avLst>
              <a:gd name="adj" fmla="val 2807"/>
            </a:avLst>
          </a:prstGeom>
          <a:solidFill>
            <a:srgbClr val="101B28">
              <a:alpha val="93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3218688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36208" y="3657600"/>
            <a:ext cx="14173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demographics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36208" y="4069080"/>
            <a:ext cx="138988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Gender, Location, Subscription Status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900416" y="3657600"/>
            <a:ext cx="14173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details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00416" y="4069080"/>
            <a:ext cx="138988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Item, Category, Amount, Season, Size, Color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564624" y="3657600"/>
            <a:ext cx="14173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Shopping behavior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64624" y="4069080"/>
            <a:ext cx="138988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Discount, Promo, Previous Purchases, Frequency, Rating, Shipping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8368" y="6419088"/>
            <a:ext cx="5943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PDF, pp. 1–2</a:t>
            </a:r>
            <a:endParaRPr lang="en-US" sz="7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DATA PREPARATION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raw records to analysis-ready data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1612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handles cleaning, feature engineering, consistency checks, and PostgreSQL integration.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92224"/>
            <a:ext cx="3438144" cy="1572768"/>
          </a:xfrm>
          <a:prstGeom prst="roundRect">
            <a:avLst>
              <a:gd name="adj" fmla="val 4651"/>
            </a:avLst>
          </a:prstGeom>
          <a:solidFill>
            <a:srgbClr val="0D1520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93592" y="1609344"/>
            <a:ext cx="731520" cy="731520"/>
          </a:xfrm>
          <a:prstGeom prst="ellipse">
            <a:avLst/>
          </a:prstGeom>
          <a:solidFill>
            <a:srgbClr val="3AA7FF">
              <a:alpha val="18000"/>
            </a:srgbClr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56816"/>
            <a:ext cx="457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44168" y="1956816"/>
            <a:ext cx="23317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414016"/>
            <a:ext cx="294436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dataset with pandas.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96512" y="2569464"/>
            <a:ext cx="310896" cy="0"/>
          </a:xfrm>
          <a:prstGeom prst="line">
            <a:avLst/>
          </a:prstGeom>
          <a:noFill/>
          <a:ln w="15240">
            <a:solidFill>
              <a:srgbClr val="3AA7FF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453128" y="1792224"/>
            <a:ext cx="3438144" cy="1572768"/>
          </a:xfrm>
          <a:prstGeom prst="roundRect">
            <a:avLst>
              <a:gd name="adj" fmla="val 4651"/>
            </a:avLst>
          </a:prstGeom>
          <a:solidFill>
            <a:srgbClr val="0D1520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88352" y="1609344"/>
            <a:ext cx="731520" cy="731520"/>
          </a:xfrm>
          <a:prstGeom prst="ellipse">
            <a:avLst/>
          </a:prstGeom>
          <a:solidFill>
            <a:srgbClr val="42E7D3">
              <a:alpha val="18000"/>
            </a:srgbClr>
          </a:solidFill>
          <a:ln w="12700">
            <a:solidFill>
              <a:srgbClr val="42E7D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956816"/>
            <a:ext cx="457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38928" y="1956816"/>
            <a:ext cx="23317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6008" y="2414016"/>
            <a:ext cx="294436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df.info() and .describe() for structure and summary statistics.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91272" y="2569464"/>
            <a:ext cx="310896" cy="0"/>
          </a:xfrm>
          <a:prstGeom prst="line">
            <a:avLst/>
          </a:prstGeom>
          <a:noFill/>
          <a:ln w="15240">
            <a:solidFill>
              <a:srgbClr val="3AA7FF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247888" y="1792224"/>
            <a:ext cx="3438144" cy="1572768"/>
          </a:xfrm>
          <a:prstGeom prst="roundRect">
            <a:avLst>
              <a:gd name="adj" fmla="val 4651"/>
            </a:avLst>
          </a:prstGeom>
          <a:solidFill>
            <a:srgbClr val="0D1520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83112" y="1609344"/>
            <a:ext cx="731520" cy="731520"/>
          </a:xfrm>
          <a:prstGeom prst="ellipse">
            <a:avLst/>
          </a:prstGeom>
          <a:solidFill>
            <a:srgbClr val="9B75FF">
              <a:alpha val="18000"/>
            </a:srgbClr>
          </a:solidFill>
          <a:ln w="12700">
            <a:solidFill>
              <a:srgbClr val="9B75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1956816"/>
            <a:ext cx="457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33688" y="1956816"/>
            <a:ext cx="23317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30768" y="2414016"/>
            <a:ext cx="294436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Impute missing Review Rating values using the median rating of each product category.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" y="3758184"/>
            <a:ext cx="3438144" cy="1572768"/>
          </a:xfrm>
          <a:prstGeom prst="roundRect">
            <a:avLst>
              <a:gd name="adj" fmla="val 4651"/>
            </a:avLst>
          </a:prstGeom>
          <a:solidFill>
            <a:srgbClr val="0D1520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93592" y="3575304"/>
            <a:ext cx="731520" cy="731520"/>
          </a:xfrm>
          <a:prstGeom prst="ellipse">
            <a:avLst/>
          </a:prstGeom>
          <a:solidFill>
            <a:srgbClr val="3AA7FF">
              <a:alpha val="18000"/>
            </a:srgbClr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922776"/>
            <a:ext cx="457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44168" y="3922776"/>
            <a:ext cx="23317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4379976"/>
            <a:ext cx="294436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Rename columns to snake_case for readability.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96512" y="4535424"/>
            <a:ext cx="310896" cy="0"/>
          </a:xfrm>
          <a:prstGeom prst="line">
            <a:avLst/>
          </a:prstGeom>
          <a:noFill/>
          <a:ln w="15240">
            <a:solidFill>
              <a:srgbClr val="3AA7FF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453128" y="3758184"/>
            <a:ext cx="3438144" cy="1572768"/>
          </a:xfrm>
          <a:prstGeom prst="roundRect">
            <a:avLst>
              <a:gd name="adj" fmla="val 4651"/>
            </a:avLst>
          </a:prstGeom>
          <a:solidFill>
            <a:srgbClr val="0D1520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3575304"/>
            <a:ext cx="731520" cy="731520"/>
          </a:xfrm>
          <a:prstGeom prst="ellipse">
            <a:avLst/>
          </a:prstGeom>
          <a:solidFill>
            <a:srgbClr val="42E7D3">
              <a:alpha val="18000"/>
            </a:srgbClr>
          </a:solidFill>
          <a:ln w="12700">
            <a:solidFill>
              <a:srgbClr val="42E7D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6008" y="3922776"/>
            <a:ext cx="457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38928" y="3922776"/>
            <a:ext cx="23317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36008" y="4379976"/>
            <a:ext cx="294436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age_group and purchase_frequency_days.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91272" y="4535424"/>
            <a:ext cx="310896" cy="0"/>
          </a:xfrm>
          <a:prstGeom prst="line">
            <a:avLst/>
          </a:prstGeom>
          <a:noFill/>
          <a:ln w="15240">
            <a:solidFill>
              <a:srgbClr val="3AA7FF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8247888" y="3758184"/>
            <a:ext cx="3438144" cy="1572768"/>
          </a:xfrm>
          <a:prstGeom prst="roundRect">
            <a:avLst>
              <a:gd name="adj" fmla="val 4651"/>
            </a:avLst>
          </a:prstGeom>
          <a:solidFill>
            <a:srgbClr val="0D1520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83112" y="3575304"/>
            <a:ext cx="731520" cy="731520"/>
          </a:xfrm>
          <a:prstGeom prst="ellipse">
            <a:avLst/>
          </a:prstGeom>
          <a:solidFill>
            <a:srgbClr val="9B75FF">
              <a:alpha val="18000"/>
            </a:srgbClr>
          </a:solidFill>
          <a:ln w="12700">
            <a:solidFill>
              <a:srgbClr val="9B75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0768" y="3922776"/>
            <a:ext cx="457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33688" y="3922776"/>
            <a:ext cx="23317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30768" y="4379976"/>
            <a:ext cx="294436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discount redundancy, drop promo_code_used, then load cleaned data into PostgreSQL.</a:t>
            </a:r>
            <a:endParaRPr lang="en-US" sz="900" dirty="0"/>
          </a:p>
        </p:txBody>
      </p:sp>
      <p:pic>
        <p:nvPicPr>
          <p:cNvPr id="39" name="Image 0" descr="/mnt/data/csba_ai_visuals/python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9582912" y="3886200"/>
            <a:ext cx="1828800" cy="1234440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9135602" y="5577840"/>
            <a:ext cx="2331720" cy="292608"/>
          </a:xfrm>
          <a:prstGeom prst="roundRect">
            <a:avLst>
              <a:gd name="adj" fmla="val 43750"/>
            </a:avLst>
          </a:prstGeom>
          <a:solidFill>
            <a:srgbClr val="42E7D3">
              <a:alpha val="22000"/>
            </a:srgbClr>
          </a:solidFill>
          <a:ln w="10160">
            <a:solidFill>
              <a:srgbClr val="42E7D3">
                <a:alpha val="8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262872" y="5623560"/>
            <a:ext cx="21488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→ POSTGRESQL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58368" y="6419088"/>
            <a:ext cx="5943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PDF, pp. 1–2</a:t>
            </a:r>
            <a:endParaRPr lang="en-US" sz="7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SQL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 business questions, one analytical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1612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turns the cleaned dataset into decision-focused business transactions.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5230368" cy="640080"/>
          </a:xfrm>
          <a:prstGeom prst="roundRect">
            <a:avLst>
              <a:gd name="adj" fmla="val 11429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883664"/>
            <a:ext cx="4160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Gender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755648"/>
            <a:ext cx="5230368" cy="640080"/>
          </a:xfrm>
          <a:prstGeom prst="roundRect">
            <a:avLst>
              <a:gd name="adj" fmla="val 11429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31152" y="1883664"/>
            <a:ext cx="4160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High-Spending Discount 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" y="2606040"/>
            <a:ext cx="5230368" cy="640080"/>
          </a:xfrm>
          <a:prstGeom prst="roundRect">
            <a:avLst>
              <a:gd name="adj" fmla="val 11429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61488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2734056"/>
            <a:ext cx="4160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 Products by Rating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606040"/>
            <a:ext cx="5230368" cy="640080"/>
          </a:xfrm>
          <a:prstGeom prst="roundRect">
            <a:avLst>
              <a:gd name="adj" fmla="val 11429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761488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31152" y="2734056"/>
            <a:ext cx="4160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 Type Comparison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3456432"/>
            <a:ext cx="5230368" cy="640080"/>
          </a:xfrm>
          <a:prstGeom prst="roundRect">
            <a:avLst>
              <a:gd name="adj" fmla="val 11429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11880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3584448"/>
            <a:ext cx="4160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Subscribers vs. Non-Subscribers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456432"/>
            <a:ext cx="5230368" cy="640080"/>
          </a:xfrm>
          <a:prstGeom prst="roundRect">
            <a:avLst>
              <a:gd name="adj" fmla="val 11429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3611880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31152" y="3584448"/>
            <a:ext cx="4160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Discount-Dependent Products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4306824"/>
            <a:ext cx="5230368" cy="640080"/>
          </a:xfrm>
          <a:prstGeom prst="roundRect">
            <a:avLst>
              <a:gd name="adj" fmla="val 11429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462272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4434840"/>
            <a:ext cx="4160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4306824"/>
            <a:ext cx="5230368" cy="640080"/>
          </a:xfrm>
          <a:prstGeom prst="roundRect">
            <a:avLst>
              <a:gd name="adj" fmla="val 11429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462272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31152" y="4434840"/>
            <a:ext cx="4160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3 Products per Category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" y="5157216"/>
            <a:ext cx="5230368" cy="640080"/>
          </a:xfrm>
          <a:prstGeom prst="roundRect">
            <a:avLst>
              <a:gd name="adj" fmla="val 11429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312664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71600" y="5285232"/>
            <a:ext cx="4160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Buyers &amp; Subscriptions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5157216"/>
            <a:ext cx="5230368" cy="640080"/>
          </a:xfrm>
          <a:prstGeom prst="roundRect">
            <a:avLst>
              <a:gd name="adj" fmla="val 11429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5312664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31152" y="5285232"/>
            <a:ext cx="4160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Age Group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" y="6016752"/>
            <a:ext cx="10972800" cy="320040"/>
          </a:xfrm>
          <a:prstGeom prst="roundRect">
            <a:avLst>
              <a:gd name="adj" fmla="val 22857"/>
            </a:avLst>
          </a:prstGeom>
          <a:solidFill>
            <a:srgbClr val="101B28">
              <a:alpha val="88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6080760"/>
            <a:ext cx="91440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lens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874520" y="6071616"/>
            <a:ext cx="9052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is organized around questions that can inform customer, product, pricing, shipping, and retention decisions.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8368" y="6419088"/>
            <a:ext cx="5943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PDF, pp. 2–6</a:t>
            </a:r>
            <a:endParaRPr lang="en-US" sz="7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REVENUE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by gender + high-spending discount users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1612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SQL outputs quantify revenue differences and identify 839 high-spending discount users.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5577840" cy="4370832"/>
          </a:xfrm>
          <a:prstGeom prst="roundRect">
            <a:avLst>
              <a:gd name="adj" fmla="val 1674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GENDER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88720" y="4956048"/>
            <a:ext cx="3950208" cy="0"/>
          </a:xfrm>
          <a:prstGeom prst="line">
            <a:avLst/>
          </a:prstGeom>
          <a:noFill/>
          <a:ln w="12700">
            <a:solidFill>
              <a:srgbClr val="193049">
                <a:alpha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88720" y="4956048"/>
            <a:ext cx="3950208" cy="0"/>
          </a:xfrm>
          <a:prstGeom prst="line">
            <a:avLst/>
          </a:prstGeom>
          <a:noFill/>
          <a:ln w="7620">
            <a:solidFill>
              <a:srgbClr val="193049">
                <a:alpha val="4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932688" y="4882896"/>
            <a:ext cx="274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0K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188720" y="4361688"/>
            <a:ext cx="3950208" cy="0"/>
          </a:xfrm>
          <a:prstGeom prst="line">
            <a:avLst/>
          </a:prstGeom>
          <a:noFill/>
          <a:ln w="7620">
            <a:solidFill>
              <a:srgbClr val="193049">
                <a:alpha val="4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932688" y="4288536"/>
            <a:ext cx="274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50K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188720" y="3767328"/>
            <a:ext cx="3950208" cy="0"/>
          </a:xfrm>
          <a:prstGeom prst="line">
            <a:avLst/>
          </a:prstGeom>
          <a:noFill/>
          <a:ln w="7620">
            <a:solidFill>
              <a:srgbClr val="193049">
                <a:alpha val="4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932688" y="3694176"/>
            <a:ext cx="274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100K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1188720" y="3172968"/>
            <a:ext cx="3950208" cy="0"/>
          </a:xfrm>
          <a:prstGeom prst="line">
            <a:avLst/>
          </a:prstGeom>
          <a:noFill/>
          <a:ln w="7620">
            <a:solidFill>
              <a:srgbClr val="193049">
                <a:alpha val="4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32688" y="3099816"/>
            <a:ext cx="274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150K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1874520" y="3981696"/>
            <a:ext cx="868680" cy="974352"/>
          </a:xfrm>
          <a:prstGeom prst="roundRect">
            <a:avLst>
              <a:gd name="adj" fmla="val 4211"/>
            </a:avLst>
          </a:prstGeom>
          <a:solidFill>
            <a:srgbClr val="9B75FF"/>
          </a:solidFill>
          <a:ln w="12700">
            <a:solidFill>
              <a:srgbClr val="9B75F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689088"/>
            <a:ext cx="1143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75,191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5074920"/>
            <a:ext cx="10515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Female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03320" y="2910053"/>
            <a:ext cx="868680" cy="2045995"/>
          </a:xfrm>
          <a:prstGeom prst="roundRect">
            <a:avLst>
              <a:gd name="adj" fmla="val 4211"/>
            </a:avLst>
          </a:prstGeom>
          <a:solidFill>
            <a:srgbClr val="3AA7FF"/>
          </a:solidFill>
          <a:ln w="12700">
            <a:solidFill>
              <a:srgbClr val="3AA7FF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617445"/>
            <a:ext cx="1143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157,890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5074920"/>
            <a:ext cx="10515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82512" y="1737360"/>
            <a:ext cx="5074920" cy="4370832"/>
          </a:xfrm>
          <a:prstGeom prst="roundRect">
            <a:avLst>
              <a:gd name="adj" fmla="val 1674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993392"/>
            <a:ext cx="29260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HIGH-SPENDING DISCOUNT USERS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2542032"/>
            <a:ext cx="1234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839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6629400" y="3054096"/>
            <a:ext cx="2286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identified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2468880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802368" y="2468880"/>
            <a:ext cx="12344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Amount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321040" y="2816352"/>
            <a:ext cx="2697480" cy="201168"/>
          </a:xfrm>
          <a:prstGeom prst="rect">
            <a:avLst/>
          </a:prstGeom>
          <a:solidFill>
            <a:srgbClr val="142236">
              <a:alpha val="60000"/>
            </a:srgbClr>
          </a:solidFill>
          <a:ln w="12700">
            <a:solidFill>
              <a:srgbClr val="14223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283464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012680" y="2834640"/>
            <a:ext cx="685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458200" y="306324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012680" y="3063240"/>
            <a:ext cx="685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321040" y="3273552"/>
            <a:ext cx="2697480" cy="201168"/>
          </a:xfrm>
          <a:prstGeom prst="rect">
            <a:avLst/>
          </a:prstGeom>
          <a:solidFill>
            <a:srgbClr val="142236">
              <a:alpha val="60000"/>
            </a:srgbClr>
          </a:solidFill>
          <a:ln w="12700">
            <a:solidFill>
              <a:srgbClr val="14223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58200" y="329184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012680" y="3291840"/>
            <a:ext cx="685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458200" y="352044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012680" y="3520440"/>
            <a:ext cx="685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321040" y="3730752"/>
            <a:ext cx="2697480" cy="201168"/>
          </a:xfrm>
          <a:prstGeom prst="rect">
            <a:avLst/>
          </a:prstGeom>
          <a:solidFill>
            <a:srgbClr val="142236">
              <a:alpha val="60000"/>
            </a:srgbClr>
          </a:solidFill>
          <a:ln w="12700">
            <a:solidFill>
              <a:srgbClr val="14223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58200" y="374904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0012680" y="3749040"/>
            <a:ext cx="685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458200" y="397764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012680" y="3977640"/>
            <a:ext cx="685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321040" y="4187952"/>
            <a:ext cx="2697480" cy="201168"/>
          </a:xfrm>
          <a:prstGeom prst="rect">
            <a:avLst/>
          </a:prstGeom>
          <a:solidFill>
            <a:srgbClr val="142236">
              <a:alpha val="60000"/>
            </a:srgbClr>
          </a:solidFill>
          <a:ln w="12700">
            <a:solidFill>
              <a:srgbClr val="14223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58200" y="420624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0012680" y="4206240"/>
            <a:ext cx="685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458200" y="443484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0012680" y="4434840"/>
            <a:ext cx="685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321040" y="4645152"/>
            <a:ext cx="2697480" cy="201168"/>
          </a:xfrm>
          <a:prstGeom prst="rect">
            <a:avLst/>
          </a:prstGeom>
          <a:solidFill>
            <a:srgbClr val="142236">
              <a:alpha val="60000"/>
            </a:srgbClr>
          </a:solidFill>
          <a:ln w="12700">
            <a:solidFill>
              <a:srgbClr val="14223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58200" y="466344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0012680" y="4663440"/>
            <a:ext cx="685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458200" y="489204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0012680" y="4892040"/>
            <a:ext cx="685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629400" y="5303520"/>
            <a:ext cx="43434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from the SQL query for customers who used discounts but still spent above the average purchase amount.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58368" y="6419088"/>
            <a:ext cx="5943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PDF, pp. 2–3</a:t>
            </a:r>
            <a:endParaRPr lang="en-US" sz="7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PRODUCT SIGNALS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Top-rated products + shipping comparison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1612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ratings and shipping behavior provide two complementary purchase signals.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5486400" cy="4370832"/>
          </a:xfrm>
          <a:prstGeom prst="roundRect">
            <a:avLst>
              <a:gd name="adj" fmla="val 1674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93392"/>
            <a:ext cx="32004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 PRODUCTS BY AVERAGE RATING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542032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Gloves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0" y="2551176"/>
            <a:ext cx="2514829" cy="192024"/>
          </a:xfrm>
          <a:prstGeom prst="roundRect">
            <a:avLst>
              <a:gd name="adj" fmla="val 14286"/>
            </a:avLst>
          </a:prstGeom>
          <a:solidFill>
            <a:srgbClr val="42E7D3"/>
          </a:solidFill>
          <a:ln w="12700">
            <a:solidFill>
              <a:srgbClr val="42E7D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542032"/>
            <a:ext cx="5029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2688" y="3063240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Sandals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28800" y="3072384"/>
            <a:ext cx="2501798" cy="192024"/>
          </a:xfrm>
          <a:prstGeom prst="roundRect">
            <a:avLst>
              <a:gd name="adj" fmla="val 14286"/>
            </a:avLst>
          </a:prstGeom>
          <a:solidFill>
            <a:srgbClr val="3AA7FF">
              <a:alpha val="85000"/>
            </a:srgbClr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063240"/>
            <a:ext cx="5029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32688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3593592"/>
            <a:ext cx="2488768" cy="192024"/>
          </a:xfrm>
          <a:prstGeom prst="roundRect">
            <a:avLst>
              <a:gd name="adj" fmla="val 14286"/>
            </a:avLst>
          </a:prstGeom>
          <a:solidFill>
            <a:srgbClr val="3AA7FF">
              <a:alpha val="85000"/>
            </a:srgbClr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584448"/>
            <a:ext cx="5029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32688" y="4105656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4114800"/>
            <a:ext cx="2475738" cy="192024"/>
          </a:xfrm>
          <a:prstGeom prst="roundRect">
            <a:avLst>
              <a:gd name="adj" fmla="val 14286"/>
            </a:avLst>
          </a:prstGeom>
          <a:solidFill>
            <a:srgbClr val="3AA7FF">
              <a:alpha val="85000"/>
            </a:srgbClr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4105656"/>
            <a:ext cx="5029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32688" y="4626864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0" y="4636008"/>
            <a:ext cx="2462708" cy="192024"/>
          </a:xfrm>
          <a:prstGeom prst="roundRect">
            <a:avLst>
              <a:gd name="adj" fmla="val 14286"/>
            </a:avLst>
          </a:prstGeom>
          <a:solidFill>
            <a:srgbClr val="3AA7FF">
              <a:alpha val="85000"/>
            </a:srgbClr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626864"/>
            <a:ext cx="5029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82512" y="1755648"/>
            <a:ext cx="5074920" cy="4370832"/>
          </a:xfrm>
          <a:prstGeom prst="roundRect">
            <a:avLst>
              <a:gd name="adj" fmla="val 1674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993392"/>
            <a:ext cx="22402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PURCHASE AMOUNT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2542032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26680" y="2487168"/>
            <a:ext cx="9601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58.46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29400" y="2926080"/>
            <a:ext cx="4297680" cy="0"/>
          </a:xfrm>
          <a:prstGeom prst="line">
            <a:avLst/>
          </a:prstGeom>
          <a:noFill/>
          <a:ln w="12700">
            <a:solidFill>
              <a:srgbClr val="193049">
                <a:alpha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6629400" y="3255264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26680" y="3200400"/>
            <a:ext cx="9601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60.48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629400" y="384048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0A0F18"/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9712" y="4087368"/>
            <a:ext cx="62179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35240" y="4041648"/>
            <a:ext cx="914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+2.02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577072" y="3968496"/>
            <a:ext cx="20116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purchase amount for Express vs. Standard</a:t>
            </a:r>
            <a:endParaRPr lang="en-US" sz="800" dirty="0"/>
          </a:p>
        </p:txBody>
      </p:sp>
      <p:pic>
        <p:nvPicPr>
          <p:cNvPr id="33" name="Image 0" descr="/mnt/data/csba_ai_visuals/shipping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9692640" y="4736592"/>
            <a:ext cx="1417320" cy="100584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58368" y="6419088"/>
            <a:ext cx="5943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PDF, pp. 3–4</a:t>
            </a:r>
            <a:endParaRPr lang="en-US" sz="7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CUSTOMER SEGMENTS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Loyalty, subscriptions, and repeat-buyer behavior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1612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history drives segmentation; subscription status adds a second lens on customer behavior.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5212080" cy="4425696"/>
          </a:xfrm>
          <a:prstGeom prst="roundRect">
            <a:avLst>
              <a:gd name="adj" fmla="val 1653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17904" y="2752344"/>
            <a:ext cx="2176272" cy="2176272"/>
          </a:xfrm>
          <a:prstGeom prst="arc">
            <a:avLst/>
          </a:prstGeom>
          <a:solidFill>
            <a:srgbClr val="05070B">
              <a:alpha val="0"/>
            </a:srgbClr>
          </a:solidFill>
          <a:ln w="165100">
            <a:solidFill>
              <a:srgbClr val="42E7D3">
                <a:alpha val="97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17904" y="2752344"/>
            <a:ext cx="2176272" cy="2176272"/>
          </a:xfrm>
          <a:prstGeom prst="arc">
            <a:avLst/>
          </a:prstGeom>
          <a:solidFill>
            <a:srgbClr val="05070B">
              <a:alpha val="0"/>
            </a:srgbClr>
          </a:solidFill>
          <a:ln w="165100">
            <a:solidFill>
              <a:srgbClr val="3AA7FF">
                <a:alpha val="97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517904" y="2752344"/>
            <a:ext cx="2176272" cy="2176272"/>
          </a:xfrm>
          <a:prstGeom prst="arc">
            <a:avLst/>
          </a:prstGeom>
          <a:solidFill>
            <a:srgbClr val="05070B">
              <a:alpha val="0"/>
            </a:srgbClr>
          </a:solidFill>
          <a:ln w="165100">
            <a:solidFill>
              <a:srgbClr val="9B75FF">
                <a:alpha val="97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847088" y="3246120"/>
            <a:ext cx="15087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3,116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48256" y="3685032"/>
            <a:ext cx="1097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87552" y="4800600"/>
            <a:ext cx="109728" cy="109728"/>
          </a:xfrm>
          <a:prstGeom prst="ellipse">
            <a:avLst/>
          </a:prstGeom>
          <a:solidFill>
            <a:srgbClr val="42E7D3"/>
          </a:solidFill>
          <a:ln w="12700">
            <a:solidFill>
              <a:srgbClr val="42E7D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754880"/>
            <a:ext cx="1097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50592" y="4754880"/>
            <a:ext cx="7315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3,116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87552" y="5148072"/>
            <a:ext cx="109728" cy="109728"/>
          </a:xfrm>
          <a:prstGeom prst="ellipse">
            <a:avLst/>
          </a:prstGeom>
          <a:solidFill>
            <a:srgbClr val="3AA7FF"/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5102352"/>
            <a:ext cx="1097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50592" y="5102352"/>
            <a:ext cx="7315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87552" y="5495544"/>
            <a:ext cx="109728" cy="109728"/>
          </a:xfrm>
          <a:prstGeom prst="ellipse">
            <a:avLst/>
          </a:prstGeom>
          <a:solidFill>
            <a:srgbClr val="9B75FF"/>
          </a:solidFill>
          <a:ln w="12700">
            <a:solidFill>
              <a:srgbClr val="9B75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5449824"/>
            <a:ext cx="1097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50592" y="5449824"/>
            <a:ext cx="7315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44768" y="1755648"/>
            <a:ext cx="5312664" cy="2103120"/>
          </a:xfrm>
          <a:prstGeom prst="roundRect">
            <a:avLst>
              <a:gd name="adj" fmla="val 3478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1993392"/>
            <a:ext cx="28346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SUBSCRIBERS VS. NON-SUBSCRIBERS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19088" y="2523744"/>
            <a:ext cx="4572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59168" y="2468880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1,053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46720" y="2532888"/>
            <a:ext cx="1325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59.49 avg. spend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363456" y="2532888"/>
            <a:ext cx="1417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62,645 revenue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19088" y="3081528"/>
            <a:ext cx="4572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59168" y="3026664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2,847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046720" y="3090672"/>
            <a:ext cx="1325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59.87 avg. spend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363456" y="3090672"/>
            <a:ext cx="1417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170,436 revenue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44768" y="4105656"/>
            <a:ext cx="5312664" cy="2075688"/>
          </a:xfrm>
          <a:prstGeom prst="roundRect">
            <a:avLst>
              <a:gd name="adj" fmla="val 3524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43400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BUYERS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4800600"/>
            <a:ext cx="14173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2,518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464808" y="5221224"/>
            <a:ext cx="5486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0" y="4800600"/>
            <a:ext cx="960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958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513064" y="5221224"/>
            <a:ext cx="5486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189720" y="4645152"/>
            <a:ext cx="18745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buyers here are customers with more than 5 purchases; the source checks their subscription status.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8368" y="6419088"/>
            <a:ext cx="5943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PDF, pp. 5–6</a:t>
            </a:r>
            <a:endParaRPr lang="en-US" sz="7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PRODUCT + AGE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Discount dependency, category leaders, and age-group revenue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1612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combines product-level purchasing patterns with demographic revenue contribution.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93392"/>
            <a:ext cx="19659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DISCOUNT RATES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0" y="2551176"/>
            <a:ext cx="1920240" cy="173736"/>
          </a:xfrm>
          <a:prstGeom prst="roundRect">
            <a:avLst>
              <a:gd name="adj" fmla="val 15789"/>
            </a:avLst>
          </a:prstGeom>
          <a:solidFill>
            <a:srgbClr val="9B75FF">
              <a:alpha val="90000"/>
            </a:srgbClr>
          </a:solidFill>
          <a:ln w="12700">
            <a:solidFill>
              <a:srgbClr val="9B75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3048" y="2542032"/>
            <a:ext cx="5029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50.00%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3099816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Sneakers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28800" y="3108960"/>
            <a:ext cx="1907182" cy="173736"/>
          </a:xfrm>
          <a:prstGeom prst="roundRect">
            <a:avLst>
              <a:gd name="adj" fmla="val 15789"/>
            </a:avLst>
          </a:prstGeom>
          <a:solidFill>
            <a:srgbClr val="9B75FF">
              <a:alpha val="90000"/>
            </a:srgbClr>
          </a:solidFill>
          <a:ln w="12700">
            <a:solidFill>
              <a:srgbClr val="9B75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3048" y="3099816"/>
            <a:ext cx="5029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49.66%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3666744"/>
            <a:ext cx="1884524" cy="173736"/>
          </a:xfrm>
          <a:prstGeom prst="roundRect">
            <a:avLst>
              <a:gd name="adj" fmla="val 15789"/>
            </a:avLst>
          </a:prstGeom>
          <a:solidFill>
            <a:srgbClr val="9B75FF">
              <a:alpha val="90000"/>
            </a:srgbClr>
          </a:solidFill>
          <a:ln w="12700">
            <a:solidFill>
              <a:srgbClr val="9B75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3048" y="3657600"/>
            <a:ext cx="5029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49.07%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4215384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Sweater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4224528"/>
            <a:ext cx="1849959" cy="173736"/>
          </a:xfrm>
          <a:prstGeom prst="roundRect">
            <a:avLst>
              <a:gd name="adj" fmla="val 15789"/>
            </a:avLst>
          </a:prstGeom>
          <a:solidFill>
            <a:srgbClr val="9B75FF">
              <a:alpha val="90000"/>
            </a:srgbClr>
          </a:solidFill>
          <a:ln w="12700">
            <a:solidFill>
              <a:srgbClr val="9B75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4215384"/>
            <a:ext cx="5029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48.17%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4773168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0" y="4782312"/>
            <a:ext cx="1819235" cy="173736"/>
          </a:xfrm>
          <a:prstGeom prst="roundRect">
            <a:avLst>
              <a:gd name="adj" fmla="val 15789"/>
            </a:avLst>
          </a:prstGeom>
          <a:solidFill>
            <a:srgbClr val="9B75FF">
              <a:alpha val="90000"/>
            </a:srgbClr>
          </a:solidFill>
          <a:ln w="12700">
            <a:solidFill>
              <a:srgbClr val="9B75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4773168"/>
            <a:ext cx="5029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47.37%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6112" y="5468112"/>
            <a:ext cx="30632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 products with the highest percentage of discounted purchases.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17720" y="1755648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PRODUCTS BY CATEGORY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542032"/>
            <a:ext cx="1024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Accessories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52160" y="2542032"/>
            <a:ext cx="1005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Jewelry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114032" y="2542032"/>
            <a:ext cx="457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46320" y="2935224"/>
            <a:ext cx="1024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Accessories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852160" y="2935224"/>
            <a:ext cx="1005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Sunglasses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114032" y="2935224"/>
            <a:ext cx="457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161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46320" y="3328416"/>
            <a:ext cx="1024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Accessories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852160" y="3328416"/>
            <a:ext cx="1005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114032" y="3328416"/>
            <a:ext cx="457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46320" y="3721608"/>
            <a:ext cx="1024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Clothing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852160" y="3721608"/>
            <a:ext cx="1005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Blouse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114032" y="3721608"/>
            <a:ext cx="457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46320" y="4114800"/>
            <a:ext cx="1024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Clothing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852160" y="4114800"/>
            <a:ext cx="1005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114032" y="4114800"/>
            <a:ext cx="457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46320" y="4507992"/>
            <a:ext cx="1024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Clothing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852160" y="4507992"/>
            <a:ext cx="1005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Shirt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14032" y="4507992"/>
            <a:ext cx="457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169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46320" y="4901184"/>
            <a:ext cx="1024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Footwear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52160" y="4901184"/>
            <a:ext cx="1005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Sandals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114032" y="4901184"/>
            <a:ext cx="457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846320" y="5294376"/>
            <a:ext cx="1024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Footwear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52160" y="5294376"/>
            <a:ext cx="1005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Shoes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114032" y="5294376"/>
            <a:ext cx="457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211312" y="1755648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58200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AGE GROUP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58200" y="2633472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 Adult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555480" y="2642616"/>
            <a:ext cx="1442444" cy="219456"/>
          </a:xfrm>
          <a:prstGeom prst="roundRect">
            <a:avLst>
              <a:gd name="adj" fmla="val 12500"/>
            </a:avLst>
          </a:prstGeom>
          <a:solidFill>
            <a:srgbClr val="42E7D3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91088" y="2633472"/>
            <a:ext cx="365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62,143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458200" y="3255264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Middle-aged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555480" y="3264408"/>
            <a:ext cx="1374063" cy="219456"/>
          </a:xfrm>
          <a:prstGeom prst="roundRect">
            <a:avLst>
              <a:gd name="adj" fmla="val 12500"/>
            </a:avLst>
          </a:prstGeom>
          <a:solidFill>
            <a:srgbClr val="3AA7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991088" y="3255264"/>
            <a:ext cx="365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59,197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458200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555480" y="3886200"/>
            <a:ext cx="1299344" cy="219456"/>
          </a:xfrm>
          <a:prstGeom prst="roundRect">
            <a:avLst>
              <a:gd name="adj" fmla="val 12500"/>
            </a:avLst>
          </a:prstGeom>
          <a:solidFill>
            <a:srgbClr val="9B75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91088" y="3877056"/>
            <a:ext cx="365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55,978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458200" y="4498848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555480" y="4507992"/>
            <a:ext cx="1294354" cy="219456"/>
          </a:xfrm>
          <a:prstGeom prst="roundRect">
            <a:avLst>
              <a:gd name="adj" fmla="val 12500"/>
            </a:avLst>
          </a:prstGeom>
          <a:solidFill>
            <a:srgbClr val="3AA7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991088" y="4498848"/>
            <a:ext cx="365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55,763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58368" y="6419088"/>
            <a:ext cx="5943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PDF, pp. 5–7</a:t>
            </a:r>
            <a:endParaRPr lang="en-US" sz="70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POWER BI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interactive dashboard turns analysis into a presentation layer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1612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reports an interactive Power BI dashboard for visually presenting the customer behavior insights.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7406640" cy="4443984"/>
          </a:xfrm>
          <a:prstGeom prst="roundRect">
            <a:avLst>
              <a:gd name="adj" fmla="val 1646"/>
            </a:avLst>
          </a:prstGeom>
          <a:solidFill>
            <a:srgbClr val="101B28">
              <a:alpha val="94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>
            <a:alphaModFix amt="96000"/>
          </a:blip>
          <a:srcRect/>
          <a:stretch/>
        </p:blipFill>
        <p:spPr>
          <a:xfrm>
            <a:off x="896112" y="2069360"/>
            <a:ext cx="6931152" cy="379827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39328" y="1755648"/>
            <a:ext cx="3118104" cy="4443984"/>
          </a:xfrm>
          <a:prstGeom prst="roundRect">
            <a:avLst>
              <a:gd name="adj" fmla="val 2346"/>
            </a:avLst>
          </a:prstGeom>
          <a:solidFill>
            <a:srgbClr val="101B28">
              <a:alpha val="92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77072" y="2011680"/>
            <a:ext cx="16459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ROLE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595360" y="2542032"/>
            <a:ext cx="100584" cy="100584"/>
          </a:xfrm>
          <a:prstGeom prst="ellipse">
            <a:avLst/>
          </a:prstGeom>
          <a:solidFill>
            <a:srgbClr val="3AA7FF"/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51392" y="2432304"/>
            <a:ext cx="21488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insights visually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595360" y="3346704"/>
            <a:ext cx="100584" cy="100584"/>
          </a:xfrm>
          <a:prstGeom prst="ellipse">
            <a:avLst/>
          </a:prstGeom>
          <a:solidFill>
            <a:srgbClr val="42E7D3"/>
          </a:solidFill>
          <a:ln w="12700">
            <a:solidFill>
              <a:srgbClr val="42E7D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51392" y="3236976"/>
            <a:ext cx="21488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customer, product, shipping, and age-group views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595360" y="4151376"/>
            <a:ext cx="100584" cy="100584"/>
          </a:xfrm>
          <a:prstGeom prst="ellipse">
            <a:avLst/>
          </a:prstGeom>
          <a:solidFill>
            <a:srgbClr val="9B75FF"/>
          </a:solidFill>
          <a:ln w="12700">
            <a:solidFill>
              <a:srgbClr val="9B75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51392" y="4041648"/>
            <a:ext cx="21488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filtering and exploration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577072" y="5239512"/>
            <a:ext cx="1417320" cy="292608"/>
          </a:xfrm>
          <a:prstGeom prst="roundRect">
            <a:avLst>
              <a:gd name="adj" fmla="val 43750"/>
            </a:avLst>
          </a:prstGeom>
          <a:solidFill>
            <a:srgbClr val="3AA7FF">
              <a:alpha val="22000"/>
            </a:srgbClr>
          </a:solidFill>
          <a:ln w="10160">
            <a:solidFill>
              <a:srgbClr val="3AA7FF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68512" y="5276088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DASHBOARD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577072" y="5559552"/>
            <a:ext cx="24231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interactive report as the visual delivery layer after Python and SQL preparation.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8368" y="6419088"/>
            <a:ext cx="5943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PDF, p. 7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sba_ai_visuals/recommendations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7680960" y="0"/>
            <a:ext cx="45079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B">
              <a:alpha val="95000"/>
            </a:srgbClr>
          </a:solidFill>
          <a:ln w="12700">
            <a:solidFill>
              <a:srgbClr val="05070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" y="502920"/>
            <a:ext cx="1170432" cy="292608"/>
          </a:xfrm>
          <a:prstGeom prst="roundRect">
            <a:avLst>
              <a:gd name="adj" fmla="val 43750"/>
            </a:avLst>
          </a:prstGeom>
          <a:solidFill>
            <a:srgbClr val="9B75FF">
              <a:alpha val="22000"/>
            </a:srgbClr>
          </a:solidFill>
          <a:ln w="10160">
            <a:solidFill>
              <a:srgbClr val="9B75FF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539496"/>
            <a:ext cx="987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ACTIONS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58368" y="1005840"/>
            <a:ext cx="6400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recommendations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85800" y="1554480"/>
            <a:ext cx="62179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concludes with five actions tied directly to observed customer, product, and shipping signals.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" y="2304288"/>
            <a:ext cx="3438144" cy="850392"/>
          </a:xfrm>
          <a:prstGeom prst="roundRect">
            <a:avLst>
              <a:gd name="adj" fmla="val 8602"/>
            </a:avLst>
          </a:prstGeom>
          <a:solidFill>
            <a:srgbClr val="101B28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2459736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 SUBSCRIPTIONS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" y="2706624"/>
            <a:ext cx="2971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exclusive benefits for subscribers.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361688" y="2304288"/>
            <a:ext cx="3438144" cy="850392"/>
          </a:xfrm>
          <a:prstGeom prst="roundRect">
            <a:avLst>
              <a:gd name="adj" fmla="val 8602"/>
            </a:avLst>
          </a:prstGeom>
          <a:solidFill>
            <a:srgbClr val="101B28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44568" y="2459736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LOYALTY PROGRAMS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44568" y="2706624"/>
            <a:ext cx="2971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repeat buyers to move them into the “Loyal” segment.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58368" y="3383280"/>
            <a:ext cx="3438144" cy="850392"/>
          </a:xfrm>
          <a:prstGeom prst="roundRect">
            <a:avLst>
              <a:gd name="adj" fmla="val 8602"/>
            </a:avLst>
          </a:prstGeom>
          <a:solidFill>
            <a:srgbClr val="101B28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3538728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B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DISCOUNT POLICY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41248" y="3785616"/>
            <a:ext cx="2971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sales boosts with margin control.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361688" y="3383280"/>
            <a:ext cx="3438144" cy="850392"/>
          </a:xfrm>
          <a:prstGeom prst="roundRect">
            <a:avLst>
              <a:gd name="adj" fmla="val 8602"/>
            </a:avLst>
          </a:prstGeom>
          <a:solidFill>
            <a:srgbClr val="101B28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44568" y="3538728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A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POSITIONING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44568" y="3785616"/>
            <a:ext cx="2971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 top-rated and best-selling products in campaigns.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58368" y="5532120"/>
            <a:ext cx="3438144" cy="850392"/>
          </a:xfrm>
          <a:prstGeom prst="roundRect">
            <a:avLst>
              <a:gd name="adj" fmla="val 8602"/>
            </a:avLst>
          </a:prstGeom>
          <a:solidFill>
            <a:srgbClr val="101B28">
              <a:alpha val="90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" y="5687568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MARKETING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41248" y="5934456"/>
            <a:ext cx="2971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efforts on high-revenue age groups and express-shipping users.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818120" y="466344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101B28">
              <a:alpha val="86000"/>
            </a:srgbClr>
          </a:solidFill>
          <a:ln w="12700">
            <a:solidFill>
              <a:srgbClr val="2D4058">
                <a:alpha val="7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83296" y="4882896"/>
            <a:ext cx="1097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DATA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308592" y="4882896"/>
            <a:ext cx="1783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targeted action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083296" y="5230368"/>
            <a:ext cx="288036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report as a decision aid, not a wall of metrics.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58368" y="6419088"/>
            <a:ext cx="5943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7B1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PDF, pp. 7–8</a:t>
            </a:r>
            <a:endParaRPr lang="en-US" sz="7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1118</Words>
  <Application>Microsoft Office PowerPoint</Application>
  <PresentationFormat>Widescreen</PresentationFormat>
  <Paragraphs>283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Customer Shopping Behavior Analysis</dc:subject>
  <dc:creator>OpenAI</dc:creator>
  <cp:lastModifiedBy>Ezhaar Shariff</cp:lastModifiedBy>
  <cp:revision>4</cp:revision>
  <dcterms:created xsi:type="dcterms:W3CDTF">2026-09-16T04:05:24Z</dcterms:created>
  <dcterms:modified xsi:type="dcterms:W3CDTF">2026-09-16T04:29:34Z</dcterms:modified>
</cp:coreProperties>
</file>